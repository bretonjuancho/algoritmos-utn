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13232"/>
            <a:ext cx="146304" cy="603504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42415" y="713232"/>
            <a:ext cx="5669280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Estructuras de
datos dinámicas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542032"/>
            <a:ext cx="52120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4D2E2"/>
                </a:solidFill>
                <a:latin typeface="Aptos"/>
              </a:rPr>
              <a:t>Listas enlazadas: memoria, nodos y enlaces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240280"/>
            <a:ext cx="13258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2240280"/>
            <a:ext cx="82296" cy="914400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93992" y="2286000"/>
            <a:ext cx="10515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706624"/>
            <a:ext cx="10698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2240280"/>
            <a:ext cx="13258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85632" y="2240280"/>
            <a:ext cx="82296" cy="914400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0224" y="2286000"/>
            <a:ext cx="10515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706624"/>
            <a:ext cx="10698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41864" y="2240280"/>
            <a:ext cx="13258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41864" y="2240280"/>
            <a:ext cx="82296" cy="914400"/>
          </a:xfrm>
          <a:prstGeom prst="rect">
            <a:avLst/>
          </a:prstGeom>
          <a:solidFill>
            <a:srgbClr val="F0B83D"/>
          </a:solidFill>
          <a:ln w="12700"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06456" y="2286000"/>
            <a:ext cx="10515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97312" y="2706624"/>
            <a:ext cx="10698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28431" y="2697480"/>
            <a:ext cx="347473" cy="0"/>
          </a:xfrm>
          <a:prstGeom prst="line">
            <a:avLst/>
          </a:prstGeom>
          <a:ln w="38100">
            <a:solidFill>
              <a:srgbClr val="8AE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307324" y="2628900"/>
            <a:ext cx="137160" cy="137160"/>
          </a:xfrm>
          <a:prstGeom prst="triangle">
            <a:avLst/>
          </a:prstGeom>
          <a:solidFill>
            <a:srgbClr val="8AE4DB"/>
          </a:solidFill>
          <a:ln>
            <a:solidFill>
              <a:srgbClr val="8A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9884664" y="2697480"/>
            <a:ext cx="347472" cy="0"/>
          </a:xfrm>
          <a:prstGeom prst="line">
            <a:avLst/>
          </a:prstGeom>
          <a:ln w="38100">
            <a:solidFill>
              <a:srgbClr val="8AE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0163556" y="2628900"/>
            <a:ext cx="137160" cy="137160"/>
          </a:xfrm>
          <a:prstGeom prst="triangle">
            <a:avLst/>
          </a:prstGeom>
          <a:solidFill>
            <a:srgbClr val="8AE4DB"/>
          </a:solidFill>
          <a:ln>
            <a:solidFill>
              <a:srgbClr val="8A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709928"/>
            <a:ext cx="6400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E4DB"/>
                </a:solidFill>
                <a:latin typeface="Consolas"/>
              </a:rPr>
              <a:t>HEAD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9400" y="1975104"/>
            <a:ext cx="0" cy="201168"/>
          </a:xfrm>
          <a:prstGeom prst="line">
            <a:avLst/>
          </a:prstGeom>
          <a:ln w="25400">
            <a:solidFill>
              <a:srgbClr val="8AE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6560820" y="2107691"/>
            <a:ext cx="137160" cy="137160"/>
          </a:xfrm>
          <a:prstGeom prst="triangle">
            <a:avLst/>
          </a:prstGeom>
          <a:solidFill>
            <a:srgbClr val="8AE4DB"/>
          </a:solidFill>
          <a:ln>
            <a:solidFill>
              <a:srgbClr val="8A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25328" y="3328416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F6CD69"/>
                </a:solidFill>
                <a:latin typeface="Consolas"/>
              </a:rPr>
              <a:t>NULL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321808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8E2EF"/>
                </a:solidFill>
                <a:latin typeface="Aptos"/>
              </a:rPr>
              <a:t>¿Cómo representamos una cantidad de datos que todavía no conocemos?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6236208"/>
            <a:ext cx="4572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2A5BB"/>
                </a:solidFill>
                <a:latin typeface="Aptos"/>
              </a:rPr>
              <a:t>Algoritmos · Estructuras de datos</a:t>
            </a:r>
          </a:p>
        </p:txBody>
      </p:sp>
      <p:cxnSp>
        <p:nvCxnSpPr>
          <p:cNvPr id="30" name="Connector 23">
            <a:extLst>
              <a:ext uri="{FF2B5EF4-FFF2-40B4-BE49-F238E27FC236}">
                <a16:creationId xmlns:a16="http://schemas.microsoft.com/office/drawing/2014/main" id="{51600694-366C-8939-ACAA-8C28DC1C7B95}"/>
              </a:ext>
            </a:extLst>
          </p:cNvPr>
          <p:cNvCxnSpPr/>
          <p:nvPr/>
        </p:nvCxnSpPr>
        <p:spPr>
          <a:xfrm>
            <a:off x="10771632" y="3127248"/>
            <a:ext cx="0" cy="201168"/>
          </a:xfrm>
          <a:prstGeom prst="line">
            <a:avLst/>
          </a:prstGeom>
          <a:ln w="25400">
            <a:solidFill>
              <a:srgbClr val="8AE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A492C3D-2B8E-3806-C603-B7FE064767DA}"/>
              </a:ext>
            </a:extLst>
          </p:cNvPr>
          <p:cNvSpPr/>
          <p:nvPr/>
        </p:nvSpPr>
        <p:spPr>
          <a:xfrm rot="10800000">
            <a:off x="10703052" y="3259835"/>
            <a:ext cx="137160" cy="137160"/>
          </a:xfrm>
          <a:prstGeom prst="triangle">
            <a:avLst/>
          </a:prstGeom>
          <a:solidFill>
            <a:srgbClr val="8AE4DB"/>
          </a:solidFill>
          <a:ln>
            <a:solidFill>
              <a:srgbClr val="8A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 dirty="0">
                <a:solidFill>
                  <a:srgbClr val="12243A"/>
                </a:solidFill>
                <a:latin typeface="Aptos"/>
              </a:rPr>
              <a:t>El </a:t>
            </a:r>
            <a:r>
              <a:rPr sz="2900" b="1" i="0" dirty="0" err="1">
                <a:solidFill>
                  <a:srgbClr val="12243A"/>
                </a:solidFill>
                <a:latin typeface="Aptos"/>
              </a:rPr>
              <a:t>problema</a:t>
            </a:r>
            <a:r>
              <a:rPr sz="2900" b="1" i="0" dirty="0">
                <a:solidFill>
                  <a:srgbClr val="12243A"/>
                </a:solidFill>
                <a:latin typeface="Aptos"/>
              </a:rPr>
              <a:t>: ¿</a:t>
            </a:r>
            <a:r>
              <a:rPr sz="2900" b="1" i="0" dirty="0" err="1">
                <a:solidFill>
                  <a:srgbClr val="12243A"/>
                </a:solidFill>
                <a:latin typeface="Aptos"/>
              </a:rPr>
              <a:t>cuántos</a:t>
            </a:r>
            <a:r>
              <a:rPr sz="2900" b="1" i="0" dirty="0">
                <a:solidFill>
                  <a:srgbClr val="12243A"/>
                </a:solidFill>
                <a:latin typeface="Aptos"/>
              </a:rPr>
              <a:t> </a:t>
            </a:r>
            <a:r>
              <a:rPr sz="2900" b="1" i="0" dirty="0" err="1">
                <a:solidFill>
                  <a:srgbClr val="12243A"/>
                </a:solidFill>
                <a:latin typeface="Aptos"/>
              </a:rPr>
              <a:t>datos</a:t>
            </a:r>
            <a:r>
              <a:rPr sz="2900" b="1" i="0" dirty="0">
                <a:solidFill>
                  <a:srgbClr val="12243A"/>
                </a:solidFill>
                <a:latin typeface="Aptos"/>
              </a:rPr>
              <a:t> </a:t>
            </a:r>
            <a:r>
              <a:rPr sz="2900" b="1" i="0" dirty="0" err="1">
                <a:solidFill>
                  <a:srgbClr val="12243A"/>
                </a:solidFill>
                <a:latin typeface="Aptos"/>
              </a:rPr>
              <a:t>habrá</a:t>
            </a:r>
            <a:r>
              <a:rPr sz="2900" b="1" i="0" dirty="0">
                <a:solidFill>
                  <a:srgbClr val="12243A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Abrimos con una situación concreta y trazamos el recorrido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4800600" cy="3611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901952"/>
            <a:ext cx="4023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315FCE"/>
                </a:solidFill>
                <a:latin typeface="Aptos"/>
              </a:rPr>
              <a:t>Una lista de espera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87168"/>
            <a:ext cx="402336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243A"/>
                </a:solidFill>
                <a:latin typeface="Aptos"/>
              </a:rPr>
              <a:t>Llegan personas durante el día.
A veces se agregan; a veces se retiran.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233672"/>
            <a:ext cx="2331720" cy="338328"/>
          </a:xfrm>
          <a:prstGeom prst="roundRect">
            <a:avLst>
              <a:gd name="adj" fmla="val 14000"/>
            </a:avLst>
          </a:prstGeom>
          <a:solidFill>
            <a:srgbClr val="FFF3D3"/>
          </a:solidFill>
          <a:ln w="12700">
            <a:solidFill>
              <a:srgbClr val="FFF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6152" y="4247388"/>
            <a:ext cx="2185415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43A"/>
                </a:solidFill>
                <a:latin typeface="Aptos"/>
              </a:rPr>
              <a:t>¿Arreglo fijo o nodos?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64792"/>
            <a:ext cx="36576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rgbClr val="12243A"/>
                </a:solidFill>
                <a:latin typeface="Aptos"/>
              </a:rPr>
              <a:t>En 30 </a:t>
            </a:r>
            <a:r>
              <a:rPr sz="2000" b="1" i="0" dirty="0" err="1">
                <a:solidFill>
                  <a:srgbClr val="12243A"/>
                </a:solidFill>
                <a:latin typeface="Aptos"/>
              </a:rPr>
              <a:t>minutos</a:t>
            </a:r>
            <a:endParaRPr sz="2000" b="1" i="0" dirty="0">
              <a:solidFill>
                <a:srgbClr val="12243A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14516" y="2583180"/>
            <a:ext cx="82296" cy="82296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2395728"/>
            <a:ext cx="43434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2243A"/>
                </a:solidFill>
                <a:latin typeface="Aptos"/>
              </a:rPr>
              <a:t>Memoria dinámica</a:t>
            </a:r>
          </a:p>
        </p:txBody>
      </p:sp>
      <p:sp>
        <p:nvSpPr>
          <p:cNvPr id="16" name="Oval 15"/>
          <p:cNvSpPr/>
          <p:nvPr/>
        </p:nvSpPr>
        <p:spPr>
          <a:xfrm>
            <a:off x="6414516" y="3204972"/>
            <a:ext cx="82296" cy="82296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3017520"/>
            <a:ext cx="43434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2243A"/>
                </a:solidFill>
                <a:latin typeface="Aptos"/>
              </a:rPr>
              <a:t>Cómo se conecta una lista</a:t>
            </a:r>
          </a:p>
        </p:txBody>
      </p:sp>
      <p:sp>
        <p:nvSpPr>
          <p:cNvPr id="18" name="Oval 17"/>
          <p:cNvSpPr/>
          <p:nvPr/>
        </p:nvSpPr>
        <p:spPr>
          <a:xfrm>
            <a:off x="6414516" y="3826764"/>
            <a:ext cx="82296" cy="82296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3639312"/>
            <a:ext cx="43434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2243A"/>
                </a:solidFill>
                <a:latin typeface="Aptos"/>
              </a:rPr>
              <a:t>Insertar y eliminar sin perder enlaces</a:t>
            </a:r>
          </a:p>
        </p:txBody>
      </p:sp>
      <p:sp>
        <p:nvSpPr>
          <p:cNvPr id="20" name="Oval 19"/>
          <p:cNvSpPr/>
          <p:nvPr/>
        </p:nvSpPr>
        <p:spPr>
          <a:xfrm>
            <a:off x="6414516" y="4448556"/>
            <a:ext cx="82296" cy="82296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1112" y="4261104"/>
            <a:ext cx="43434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2243A"/>
                </a:solidFill>
                <a:latin typeface="Aptos"/>
              </a:rPr>
              <a:t>Circular vs. doblemente enlazada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La estructura se adapta al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Del espacio reservado de antemano al espacio pedido durante la ejecución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1664208"/>
            <a:ext cx="1325880" cy="338328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E5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1677924"/>
            <a:ext cx="117957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15FCE"/>
                </a:solidFill>
                <a:latin typeface="Aptos"/>
              </a:rPr>
              <a:t>ARREGLO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664208"/>
            <a:ext cx="2103120" cy="338328"/>
          </a:xfrm>
          <a:prstGeom prst="roundRect">
            <a:avLst>
              <a:gd name="adj" fmla="val 14000"/>
            </a:avLst>
          </a:prstGeom>
          <a:solidFill>
            <a:srgbClr val="DDF6F2"/>
          </a:solidFill>
          <a:ln w="12700">
            <a:solidFill>
              <a:srgbClr val="DD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77924"/>
            <a:ext cx="1956815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867F"/>
                </a:solidFill>
                <a:latin typeface="Aptos"/>
              </a:rPr>
              <a:t>LISTA ENLAZADA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67128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Capacidad contigua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06040"/>
            <a:ext cx="4297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64748B"/>
                </a:solidFill>
                <a:latin typeface="Aptos"/>
              </a:rPr>
              <a:t>Cada </a:t>
            </a:r>
            <a:r>
              <a:rPr sz="1500" b="0" i="0" dirty="0" err="1">
                <a:solidFill>
                  <a:srgbClr val="64748B"/>
                </a:solidFill>
                <a:latin typeface="Aptos"/>
              </a:rPr>
              <a:t>casillero</a:t>
            </a:r>
            <a:r>
              <a:rPr sz="15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64748B"/>
                </a:solidFill>
                <a:latin typeface="Aptos"/>
              </a:rPr>
              <a:t>está</a:t>
            </a:r>
            <a:r>
              <a:rPr sz="1500" b="0" i="0" dirty="0">
                <a:solidFill>
                  <a:srgbClr val="64748B"/>
                </a:solidFill>
                <a:latin typeface="Aptos"/>
              </a:rPr>
              <a:t> junto al </a:t>
            </a:r>
            <a:r>
              <a:rPr sz="1500" b="0" i="0" dirty="0" err="1">
                <a:solidFill>
                  <a:srgbClr val="64748B"/>
                </a:solidFill>
                <a:latin typeface="Aptos"/>
              </a:rPr>
              <a:t>siguiente</a:t>
            </a:r>
            <a:r>
              <a:rPr sz="15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3337560"/>
            <a:ext cx="713232" cy="786384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C8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401568"/>
            <a:ext cx="676656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315FCE"/>
                </a:solidFill>
                <a:latin typeface="Aptos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1368" y="3337560"/>
            <a:ext cx="713232" cy="786384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C8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19656" y="3401568"/>
            <a:ext cx="676656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315FCE"/>
                </a:solidFill>
                <a:latin typeface="Aptos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3472" y="3337560"/>
            <a:ext cx="713232" cy="786384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C8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3401568"/>
            <a:ext cx="676656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315FCE"/>
                </a:solidFill>
                <a:latin typeface="Aptos"/>
              </a:rPr>
              <a:t>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5576" y="3337560"/>
            <a:ext cx="713232" cy="786384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C8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83864" y="3401568"/>
            <a:ext cx="676656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337560"/>
            <a:ext cx="713232" cy="786384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C8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3401568"/>
            <a:ext cx="676656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64748B"/>
                </a:solidFill>
                <a:latin typeface="Apto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416552"/>
            <a:ext cx="42976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 err="1">
                <a:solidFill>
                  <a:srgbClr val="64748B"/>
                </a:solidFill>
                <a:latin typeface="Aptos"/>
              </a:rPr>
              <a:t>Índice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directo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·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desplazar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Aptos"/>
              </a:rPr>
              <a:t>puede</a:t>
            </a:r>
            <a:r>
              <a:rPr sz="1400" b="0" i="0" dirty="0">
                <a:solidFill>
                  <a:srgbClr val="64748B"/>
                </a:solidFill>
                <a:latin typeface="Aptos"/>
              </a:rPr>
              <a:t> costar O(n)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96128" y="2834640"/>
            <a:ext cx="576072" cy="0"/>
          </a:xfrm>
          <a:prstGeom prst="line">
            <a:avLst/>
          </a:prstGeom>
          <a:ln w="3810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6103620" y="2766060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3127248"/>
            <a:ext cx="17373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867F"/>
                </a:solidFill>
                <a:latin typeface="Aptos"/>
              </a:rPr>
              <a:t>pedir solo lo necesario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2167128"/>
            <a:ext cx="46634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rgbClr val="12243A"/>
                </a:solidFill>
                <a:latin typeface="Aptos"/>
              </a:rPr>
              <a:t>Nodos </a:t>
            </a:r>
            <a:r>
              <a:rPr sz="2000" b="1" i="0" dirty="0" err="1">
                <a:solidFill>
                  <a:srgbClr val="12243A"/>
                </a:solidFill>
                <a:latin typeface="Aptos"/>
              </a:rPr>
              <a:t>en</a:t>
            </a:r>
            <a:r>
              <a:rPr sz="2000" b="1" i="0" dirty="0">
                <a:solidFill>
                  <a:srgbClr val="12243A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2243A"/>
                </a:solidFill>
                <a:latin typeface="Aptos"/>
              </a:rPr>
              <a:t>cualquier</a:t>
            </a:r>
            <a:r>
              <a:rPr sz="2000" b="1" i="0" dirty="0">
                <a:solidFill>
                  <a:srgbClr val="12243A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2243A"/>
                </a:solidFill>
                <a:latin typeface="Aptos"/>
              </a:rPr>
              <a:t>dirección</a:t>
            </a:r>
            <a:r>
              <a:rPr sz="2000" b="1" i="0" dirty="0">
                <a:solidFill>
                  <a:srgbClr val="12243A"/>
                </a:solidFill>
                <a:latin typeface="Aptos"/>
              </a:rPr>
              <a:t> de memoria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3154680"/>
            <a:ext cx="1298448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65392" y="3154680"/>
            <a:ext cx="82296" cy="841248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3" y="3200400"/>
            <a:ext cx="102412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621024"/>
            <a:ext cx="1042415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3154680"/>
            <a:ext cx="1298448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94192" y="3154680"/>
            <a:ext cx="82296" cy="841248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58784" y="3200400"/>
            <a:ext cx="102412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621024"/>
            <a:ext cx="1042415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22992" y="3154680"/>
            <a:ext cx="1298448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222992" y="3154680"/>
            <a:ext cx="82296" cy="841248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87584" y="3200400"/>
            <a:ext cx="1024127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621024"/>
            <a:ext cx="1042415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9296" y="3813048"/>
            <a:ext cx="1060704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3B8AE"/>
                </a:solidFill>
                <a:latin typeface="Consolas"/>
              </a:rPr>
              <a:t>NULL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91272" y="3584448"/>
            <a:ext cx="402336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8225028" y="3515868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720072" y="3584448"/>
            <a:ext cx="402336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10053828" y="3515868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4416552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Crece nodo a nodo · no requiere continuidad física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" y="5276088"/>
            <a:ext cx="10378440" cy="64008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88720" y="539496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AE4DB"/>
                </a:solidFill>
                <a:latin typeface="Aptos"/>
              </a:rPr>
              <a:t>También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5358384"/>
            <a:ext cx="8183879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arrays dinámicos · pilas · colas · matrices (vector de vectores)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Memoria dinámica: pedir, usar, liberar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Asignación y liberación ocurren mientras el programa se ejecuta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719072"/>
            <a:ext cx="4663440" cy="36393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1938528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Aptos"/>
              </a:rPr>
              <a:t>Ciclo de vida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" y="2606040"/>
            <a:ext cx="3977639" cy="59436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E3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89888" y="2811780"/>
            <a:ext cx="182880" cy="182880"/>
          </a:xfrm>
          <a:prstGeom prst="ellips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09928" y="2642616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43A"/>
                </a:solidFill>
                <a:latin typeface="Aptos"/>
              </a:rPr>
              <a:t>1 · reservar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42616"/>
            <a:ext cx="17556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new crea un objeto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81328" y="3227832"/>
            <a:ext cx="0" cy="146304"/>
          </a:xfrm>
          <a:prstGeom prst="line">
            <a:avLst/>
          </a:prstGeom>
          <a:ln w="20320">
            <a:solidFill>
              <a:srgbClr val="A7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1412748" y="3305556"/>
            <a:ext cx="137160" cy="137160"/>
          </a:xfrm>
          <a:prstGeom prst="triangle">
            <a:avLst/>
          </a:prstGeom>
          <a:solidFill>
            <a:srgbClr val="A7B7C9"/>
          </a:solidFill>
          <a:ln>
            <a:solidFill>
              <a:srgbClr val="A7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207008" y="3410712"/>
            <a:ext cx="3977639" cy="59436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E3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89888" y="3616451"/>
            <a:ext cx="182880" cy="182880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09928" y="3447288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43A"/>
                </a:solidFill>
                <a:latin typeface="Aptos"/>
              </a:rPr>
              <a:t>2 · acceder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447288"/>
            <a:ext cx="17556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un puntero permite usarlo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81328" y="4032504"/>
            <a:ext cx="0" cy="146304"/>
          </a:xfrm>
          <a:prstGeom prst="line">
            <a:avLst/>
          </a:prstGeom>
          <a:ln w="20320">
            <a:solidFill>
              <a:srgbClr val="A7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514549">
            <a:off x="1412748" y="4110228"/>
            <a:ext cx="137160" cy="137160"/>
          </a:xfrm>
          <a:prstGeom prst="triangle">
            <a:avLst/>
          </a:prstGeom>
          <a:solidFill>
            <a:srgbClr val="A7B7C9"/>
          </a:solidFill>
          <a:ln>
            <a:solidFill>
              <a:srgbClr val="A7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07008" y="4215384"/>
            <a:ext cx="3977639" cy="59436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E3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89888" y="4421124"/>
            <a:ext cx="182880" cy="182880"/>
          </a:xfrm>
          <a:prstGeom prst="ellipse">
            <a:avLst/>
          </a:prstGeom>
          <a:solidFill>
            <a:srgbClr val="EF705C"/>
          </a:solidFill>
          <a:ln>
            <a:solidFill>
              <a:srgbClr val="EF7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09928" y="4251960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43A"/>
                </a:solidFill>
                <a:latin typeface="Aptos"/>
              </a:rPr>
              <a:t>3 · liberar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251960"/>
            <a:ext cx="17556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delete devuelve el espacio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719072"/>
            <a:ext cx="5166360" cy="3639312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93392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Dos momentos distintos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724912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9BCD1"/>
                </a:solidFill>
                <a:latin typeface="Consolas"/>
              </a:rPr>
              <a:t>ESTÁTICA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697480"/>
            <a:ext cx="27432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espacio definido al compilar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511296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E4DB"/>
                </a:solidFill>
                <a:latin typeface="Consolas"/>
              </a:rPr>
              <a:t>DINÁMICA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474720"/>
            <a:ext cx="28346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espacio pedido durante la ejecución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46520" y="4087368"/>
            <a:ext cx="4343400" cy="0"/>
          </a:xfrm>
          <a:prstGeom prst="line">
            <a:avLst/>
          </a:prstGeom>
          <a:ln w="12700">
            <a:solidFill>
              <a:srgbClr val="4154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19088" y="4370832"/>
            <a:ext cx="429768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4E0ED"/>
                </a:solidFill>
                <a:latin typeface="Aptos"/>
              </a:rPr>
              <a:t>Acceso a un objeto dinámico: siempre a través de un puntero.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42432"/>
            <a:ext cx="101498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4748B"/>
                </a:solidFill>
                <a:latin typeface="Aptos"/>
              </a:rPr>
              <a:t>En C++ moderno, new devuelve un puntero tipado; si falla normalmente lanza std::bad_alloc.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new y delete: un ciclo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En C++ · emparejar el tipo de reserva y el tipo de liberación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55648"/>
            <a:ext cx="6492240" cy="4005072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76272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DCE9F5"/>
                </a:solidFill>
                <a:latin typeface="Consolas"/>
              </a:rPr>
              <a:t>int* p = new int;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52344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DCE9F5"/>
                </a:solidFill>
                <a:latin typeface="Consolas"/>
              </a:rPr>
              <a:t>*p = 42;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28415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904487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AE4DB"/>
                </a:solidFill>
                <a:latin typeface="Consolas"/>
              </a:rPr>
              <a:t>delete 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60"/>
            <a:ext cx="5394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AE4DB"/>
                </a:solidFill>
                <a:latin typeface="Consolas"/>
              </a:rPr>
              <a:t>p = nullptr;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965960"/>
            <a:ext cx="1664208" cy="338328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E5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979676"/>
            <a:ext cx="1517904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15FCE"/>
                </a:solidFill>
                <a:latin typeface="Aptos"/>
              </a:rPr>
              <a:t>OBJETO ÚNICO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523744"/>
            <a:ext cx="320040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Consolas"/>
              </a:rPr>
              <a:t>new  → 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401568"/>
            <a:ext cx="1097280" cy="338328"/>
          </a:xfrm>
          <a:prstGeom prst="roundRect">
            <a:avLst>
              <a:gd name="adj" fmla="val 14000"/>
            </a:avLst>
          </a:prstGeom>
          <a:solidFill>
            <a:srgbClr val="FFF3D3"/>
          </a:solidFill>
          <a:ln w="12700">
            <a:solidFill>
              <a:srgbClr val="FFF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2" y="3415284"/>
            <a:ext cx="95097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43A"/>
                </a:solidFill>
                <a:latin typeface="Aptos"/>
              </a:rPr>
              <a:t>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941063"/>
            <a:ext cx="36576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2243A"/>
                </a:solidFill>
                <a:latin typeface="Consolas"/>
              </a:rPr>
              <a:t>new T[n]  →  delete[]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736592"/>
            <a:ext cx="3429000" cy="804672"/>
          </a:xfrm>
          <a:prstGeom prst="roundRect">
            <a:avLst>
              <a:gd name="adj" fmla="val 14000"/>
            </a:avLst>
          </a:prstGeom>
          <a:solidFill>
            <a:srgbClr val="FDE7E2"/>
          </a:solidFill>
          <a:ln w="12700">
            <a:solidFill>
              <a:srgbClr val="FD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4864608"/>
            <a:ext cx="29718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64636"/>
                </a:solidFill>
                <a:latin typeface="Aptos"/>
              </a:rPr>
              <a:t>No mezclar delete y delete[].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925312"/>
            <a:ext cx="1014984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delete nullptr no hace nada. Poner el puntero en nullptr evita reutilizar una dirección colgante.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El nodo se apunta a otro nodo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Una estructura autorreferenciada contiene un puntero a su propio 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5166360" cy="3931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039112"/>
            <a:ext cx="420624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Aptos"/>
              </a:rPr>
              <a:t>Un nodo tiene dos partes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880360"/>
            <a:ext cx="1938528" cy="1078992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BCD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89888" y="3054096"/>
            <a:ext cx="17373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15FCE"/>
                </a:solidFill>
                <a:latin typeface="Aptos"/>
              </a:rPr>
              <a:t>dato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880360"/>
            <a:ext cx="2212848" cy="1078992"/>
          </a:xfrm>
          <a:prstGeom prst="roundRect">
            <a:avLst>
              <a:gd name="adj" fmla="val 14000"/>
            </a:avLst>
          </a:prstGeom>
          <a:solidFill>
            <a:srgbClr val="DDF6F2"/>
          </a:solidFill>
          <a:ln w="12700">
            <a:solidFill>
              <a:srgbClr val="A8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3044952"/>
            <a:ext cx="19202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3867F"/>
                </a:solidFill>
                <a:latin typeface="Aptos"/>
              </a:rPr>
              <a:t>enlace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4160520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información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416052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Aptos"/>
              </a:rPr>
              <a:t>dirección del próximo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737360"/>
            <a:ext cx="4709160" cy="39319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67728" y="2331720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CE9F5"/>
                </a:solidFill>
                <a:latin typeface="Consolas"/>
              </a:rPr>
              <a:t>struct Nodo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852927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CE9F5"/>
                </a:solidFill>
                <a:latin typeface="Consolas"/>
              </a:rPr>
              <a:t>    int dato;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374135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CE9F5"/>
                </a:solidFill>
                <a:latin typeface="Consolas"/>
              </a:rPr>
              <a:t>    Nodo* siguiente;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895344"/>
            <a:ext cx="38404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CE9F5"/>
                </a:solidFill>
                <a:latin typeface="Consolas"/>
              </a:rPr>
              <a:t>};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773168"/>
            <a:ext cx="3657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AE4DB"/>
                </a:solidFill>
                <a:latin typeface="Aptos"/>
              </a:rPr>
              <a:t>El último enlace marca el final con nullptr.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Lista simple: seguir el enlace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El puntero maestro da acceso al primer nodo; cada nodo conoce al siguiente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80944"/>
            <a:ext cx="685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5FCE"/>
                </a:solidFill>
                <a:latin typeface="Consolas"/>
              </a:rPr>
              <a:t>lista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3136392"/>
            <a:ext cx="429768" cy="0"/>
          </a:xfrm>
          <a:prstGeom prst="line">
            <a:avLst/>
          </a:prstGeom>
          <a:ln w="3175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052827" y="3067812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240280" y="2697480"/>
            <a:ext cx="153619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40280" y="2697480"/>
            <a:ext cx="82296" cy="914400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04872" y="2743200"/>
            <a:ext cx="12618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163824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31336" y="3154680"/>
            <a:ext cx="914400" cy="0"/>
          </a:xfrm>
          <a:prstGeom prst="line">
            <a:avLst/>
          </a:prstGeom>
          <a:ln w="3175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677156" y="308610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92040" y="2697480"/>
            <a:ext cx="153619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92040" y="2697480"/>
            <a:ext cx="82296" cy="914400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6631" y="2743200"/>
            <a:ext cx="12618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163824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3154680"/>
            <a:ext cx="914400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328916" y="3086100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543800" y="2697480"/>
            <a:ext cx="153619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2697480"/>
            <a:ext cx="82296" cy="914400"/>
          </a:xfrm>
          <a:prstGeom prst="rect">
            <a:avLst/>
          </a:prstGeom>
          <a:solidFill>
            <a:srgbClr val="F0B83D"/>
          </a:solidFill>
          <a:ln w="12700"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08392" y="2743200"/>
            <a:ext cx="12618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163824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34856" y="3154680"/>
            <a:ext cx="804672" cy="0"/>
          </a:xfrm>
          <a:prstGeom prst="line">
            <a:avLst/>
          </a:prstGeom>
          <a:ln w="31750">
            <a:solidFill>
              <a:srgbClr val="F0B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870948" y="3086100"/>
            <a:ext cx="137160" cy="137160"/>
          </a:xfrm>
          <a:prstGeom prst="triangle">
            <a:avLst/>
          </a:prstGeom>
          <a:solidFill>
            <a:srgbClr val="F0B83D"/>
          </a:solidFill>
          <a:ln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03536" y="2898648"/>
            <a:ext cx="987552" cy="512064"/>
          </a:xfrm>
          <a:prstGeom prst="roundRect">
            <a:avLst>
              <a:gd name="adj" fmla="val 14000"/>
            </a:avLst>
          </a:prstGeom>
          <a:solidFill>
            <a:srgbClr val="FDE7E2"/>
          </a:solidFill>
          <a:ln w="12700">
            <a:solidFill>
              <a:srgbClr val="FD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94976" y="2990088"/>
            <a:ext cx="804672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A64636"/>
                </a:solidFill>
                <a:latin typeface="Consolas"/>
              </a:rPr>
              <a:t>NULL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368296"/>
            <a:ext cx="685800" cy="338328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E5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2382012"/>
            <a:ext cx="53949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15FCE"/>
                </a:solidFill>
                <a:latin typeface="Aptos"/>
              </a:rPr>
              <a:t>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069080"/>
            <a:ext cx="98755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4748B"/>
                </a:solidFill>
                <a:latin typeface="Aptos"/>
              </a:rPr>
              <a:t>Los nodos pueden estar separados en memoria: el orden lo define el enlace.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4892040"/>
            <a:ext cx="10195560" cy="7498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98448" y="5056632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15FCE"/>
                </a:solidFill>
                <a:latin typeface="Aptos"/>
              </a:rPr>
              <a:t>Para recorrer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029200"/>
            <a:ext cx="79095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2243A"/>
                </a:solidFill>
                <a:latin typeface="Consolas"/>
              </a:rPr>
              <a:t>actual = lista  →  visitar dato  →  actual = actual-&gt;siguiente  →  parar en nullptr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Insertar rápido ≠ encontrar rápido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Útiles con cantidad variable y cambios frecuentes; primero hay que ubicar el nodo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737360"/>
            <a:ext cx="4892040" cy="3584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3584" y="2029968"/>
            <a:ext cx="40233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Buscar un valor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1872" y="2880360"/>
            <a:ext cx="1170432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1872" y="2880360"/>
            <a:ext cx="82296" cy="804672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26463" y="292607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3346704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880360"/>
            <a:ext cx="1170432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2880360"/>
            <a:ext cx="82296" cy="804672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07792" y="292607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3346704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2880360"/>
            <a:ext cx="1170432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24528" y="2880360"/>
            <a:ext cx="82296" cy="804672"/>
          </a:xfrm>
          <a:prstGeom prst="rect">
            <a:avLst/>
          </a:prstGeom>
          <a:solidFill>
            <a:srgbClr val="F0B83D"/>
          </a:solidFill>
          <a:ln w="12700"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92607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3346704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59736" y="3282696"/>
            <a:ext cx="192024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583179" y="3214115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3941063" y="3282696"/>
            <a:ext cx="192024" cy="0"/>
          </a:xfrm>
          <a:prstGeom prst="line">
            <a:avLst/>
          </a:prstGeom>
          <a:ln w="2540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4064507" y="3214115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4169663"/>
            <a:ext cx="4023360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5FCE"/>
                </a:solidFill>
                <a:latin typeface="Aptos"/>
              </a:rPr>
              <a:t>Se avanza de a un enlace → 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99432"/>
            <a:ext cx="40233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No hay acceso directo por índice.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737360"/>
            <a:ext cx="5074920" cy="3584448"/>
          </a:xfrm>
          <a:prstGeom prst="roundRect">
            <a:avLst>
              <a:gd name="adj" fmla="val 14000"/>
            </a:avLst>
          </a:prstGeom>
          <a:solidFill>
            <a:srgbClr val="DDF6F2"/>
          </a:solidFill>
          <a:ln w="12700">
            <a:solidFill>
              <a:srgbClr val="B7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2029968"/>
            <a:ext cx="434340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2243A"/>
                </a:solidFill>
                <a:latin typeface="Aptos"/>
              </a:rPr>
              <a:t>Insertar después de un nodo conocido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2779776"/>
            <a:ext cx="43434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3867F"/>
                </a:solidFill>
                <a:latin typeface="Consolas"/>
              </a:rPr>
              <a:t>cambiar un enlace → O(1)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438144"/>
            <a:ext cx="420624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243A"/>
                </a:solidFill>
                <a:latin typeface="Aptos"/>
              </a:rPr>
              <a:t>Pero primero quizá haya que recorrer para ubicarlo: O(n).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407408"/>
            <a:ext cx="42062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En arreglos, insertar en medio suele requerir desplazar elementos.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74243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4748B"/>
                </a:solidFill>
                <a:latin typeface="Aptos"/>
              </a:rPr>
              <a:t>Conversación breve: ¿qué parte es O(1) y qué parte puede ser O(n)?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Insertar C entre B y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Primero se conecta el nodo nuevo con D; después B apunta a 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331720"/>
            <a:ext cx="114300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23317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377439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798063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331720"/>
            <a:ext cx="114300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23317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2377439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798063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31720"/>
            <a:ext cx="114300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46520" y="23317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2377439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98063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331720"/>
            <a:ext cx="114300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3317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377439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798063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90087"/>
            <a:ext cx="905256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315FCE"/>
                </a:solidFill>
                <a:latin typeface="Consolas"/>
              </a:rPr>
              <a:t>NULL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743200"/>
            <a:ext cx="36576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2583179" y="26746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3931920" y="2743200"/>
            <a:ext cx="242316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6286500" y="26746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7635240" y="2743200"/>
            <a:ext cx="50292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8069580" y="26746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58768" y="3794760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867F"/>
                </a:solidFill>
                <a:latin typeface="Aptos"/>
              </a:rPr>
              <a:t>nuevo nodo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4187952"/>
            <a:ext cx="132588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69080" y="4187952"/>
            <a:ext cx="82296" cy="841248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33672" y="4233672"/>
            <a:ext cx="10515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4654296"/>
            <a:ext cx="106984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4846320"/>
            <a:ext cx="1088136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3B8AE"/>
                </a:solidFill>
                <a:latin typeface="Consolas"/>
              </a:rPr>
              <a:t>→ D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5394960" y="3300984"/>
            <a:ext cx="822960" cy="1307592"/>
          </a:xfrm>
          <a:prstGeom prst="line">
            <a:avLst/>
          </a:prstGeom>
          <a:ln w="25400">
            <a:solidFill>
              <a:srgbClr val="23B8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2086772">
            <a:off x="6149340" y="3232403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582912" y="2176272"/>
            <a:ext cx="1874519" cy="2596896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48088" y="2450592"/>
            <a:ext cx="32004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8AE4DB"/>
                </a:solidFill>
                <a:latin typeface="Apto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2459736"/>
            <a:ext cx="100584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C-&gt;siguiente =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8088" y="3328416"/>
            <a:ext cx="32004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8AE4DB"/>
                </a:solidFill>
                <a:latin typeface="Apto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3310128"/>
            <a:ext cx="100584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B-&gt;siguiente =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13892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DESPUÉS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58968"/>
            <a:ext cx="11430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97280" y="5458968"/>
            <a:ext cx="82296" cy="713232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61872" y="5504688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5925312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5458968"/>
            <a:ext cx="11430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743200" y="5458968"/>
            <a:ext cx="82296" cy="713232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07792" y="5504688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98648" y="5925312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5458968"/>
            <a:ext cx="11430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34840" y="5458968"/>
            <a:ext cx="82296" cy="713232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99431" y="5504688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5925312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26480" y="5458968"/>
            <a:ext cx="11430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0" y="5458968"/>
            <a:ext cx="82296" cy="713232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91072" y="5504688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81928" y="5925312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18120" y="5458968"/>
            <a:ext cx="11430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818120" y="5458968"/>
            <a:ext cx="82296" cy="713232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82712" y="5504688"/>
            <a:ext cx="868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73568" y="5925312"/>
            <a:ext cx="88696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64424" y="6117336"/>
            <a:ext cx="905256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315FCE"/>
                </a:solidFill>
                <a:latin typeface="Consolas"/>
              </a:rPr>
              <a:t>NULL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86000" y="5815584"/>
            <a:ext cx="36576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2583179" y="5747004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3931920" y="5815584"/>
            <a:ext cx="41148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4274820" y="5747004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5623560" y="5815584"/>
            <a:ext cx="411480" cy="0"/>
          </a:xfrm>
          <a:prstGeom prst="line">
            <a:avLst/>
          </a:prstGeom>
          <a:ln w="2540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5966459" y="5747004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7315200" y="5815584"/>
            <a:ext cx="411479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5400000">
            <a:off x="7658100" y="5747004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Eliminar sin dejar nodos colgando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Conservar el siguiente, puentear el nodo y liberar su memoria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783080"/>
            <a:ext cx="3200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2243A"/>
                </a:solidFill>
                <a:latin typeface="Aptos"/>
              </a:rPr>
              <a:t>Queremos quitar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60320"/>
            <a:ext cx="1170432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25603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1" y="260603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3026663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560320"/>
            <a:ext cx="1170432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25603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260603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026663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560320"/>
            <a:ext cx="1170432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2560320"/>
            <a:ext cx="82296" cy="841248"/>
          </a:xfrm>
          <a:prstGeom prst="rect">
            <a:avLst/>
          </a:prstGeom>
          <a:solidFill>
            <a:srgbClr val="EF705C"/>
          </a:solidFill>
          <a:ln w="12700">
            <a:solidFill>
              <a:srgbClr val="EF7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9472" y="260603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026663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560320"/>
            <a:ext cx="1170432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20840" y="25603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1" y="260603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026663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560320"/>
            <a:ext cx="1170432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58200" y="2560320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2606039"/>
            <a:ext cx="89611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026663"/>
            <a:ext cx="9144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504" y="3218687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315FCE"/>
                </a:solidFill>
                <a:latin typeface="Consolas"/>
              </a:rPr>
              <a:t>NULL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2971800"/>
            <a:ext cx="45720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2628900" y="29032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3977639" y="2971800"/>
            <a:ext cx="685801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4594859" y="29032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943600" y="2971800"/>
            <a:ext cx="685800" cy="0"/>
          </a:xfrm>
          <a:prstGeom prst="line">
            <a:avLst/>
          </a:prstGeom>
          <a:ln w="25400">
            <a:solidFill>
              <a:srgbClr val="EF7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6560820" y="2903220"/>
            <a:ext cx="137160" cy="137160"/>
          </a:xfrm>
          <a:prstGeom prst="triangle">
            <a:avLst/>
          </a:prstGeom>
          <a:solidFill>
            <a:srgbClr val="EF705C"/>
          </a:solidFill>
          <a:ln>
            <a:solidFill>
              <a:srgbClr val="EF7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7909560" y="2971800"/>
            <a:ext cx="457200" cy="0"/>
          </a:xfrm>
          <a:prstGeom prst="line">
            <a:avLst/>
          </a:prstGeom>
          <a:ln w="2540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8298180" y="29032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0120" y="4133087"/>
            <a:ext cx="717804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61872" y="4352544"/>
            <a:ext cx="64922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2243A"/>
                </a:solidFill>
                <a:latin typeface="Consolas"/>
              </a:rPr>
              <a:t>prev-&gt;siguiente = actual-&gt;siguiente;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4800600"/>
            <a:ext cx="64922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15FCE"/>
                </a:solidFill>
                <a:latin typeface="Consolas"/>
              </a:rPr>
              <a:t>delete actual;   actual = nullptr;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4133087"/>
            <a:ext cx="2788920" cy="1417320"/>
          </a:xfrm>
          <a:prstGeom prst="roundRect">
            <a:avLst>
              <a:gd name="adj" fmla="val 14000"/>
            </a:avLst>
          </a:prstGeom>
          <a:solidFill>
            <a:srgbClr val="FFF3D3"/>
          </a:solidFill>
          <a:ln w="12700">
            <a:solidFill>
              <a:srgbClr val="FFF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14232" y="4325112"/>
            <a:ext cx="228600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43A"/>
                </a:solidFill>
                <a:latin typeface="Aptos"/>
              </a:rPr>
              <a:t>¿Y si se elimina el primer nodo?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5870448"/>
            <a:ext cx="96926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Actualizar la cabeza de la lista.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Lista circular: el final vuelve al inicio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Útil cuando el recorrido debe repetirse sin un NULL de cierre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2761488"/>
            <a:ext cx="1508760" cy="877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57400" y="2761488"/>
            <a:ext cx="82296" cy="877824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1992" y="2807208"/>
            <a:ext cx="123443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227832"/>
            <a:ext cx="12527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761488"/>
            <a:ext cx="1508760" cy="877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2761488"/>
            <a:ext cx="82296" cy="877824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65192" y="2807208"/>
            <a:ext cx="123443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Luis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3227832"/>
            <a:ext cx="12527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761488"/>
            <a:ext cx="1508760" cy="877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43800" y="2761488"/>
            <a:ext cx="82296" cy="877824"/>
          </a:xfrm>
          <a:prstGeom prst="rect">
            <a:avLst/>
          </a:prstGeom>
          <a:solidFill>
            <a:srgbClr val="F0B83D"/>
          </a:solidFill>
          <a:ln w="12700"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08392" y="2807208"/>
            <a:ext cx="1234439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Mora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3227832"/>
            <a:ext cx="12527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3182112"/>
            <a:ext cx="1097280" cy="0"/>
          </a:xfrm>
          <a:prstGeom prst="line">
            <a:avLst/>
          </a:prstGeom>
          <a:ln w="3175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640580" y="3113532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355080" y="3182112"/>
            <a:ext cx="1097280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383780" y="3113532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8293608" y="2121408"/>
            <a:ext cx="0" cy="548640"/>
          </a:xfrm>
          <a:prstGeom prst="line">
            <a:avLst/>
          </a:prstGeom>
          <a:ln w="31750">
            <a:solidFill>
              <a:srgbClr val="F0B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788920" y="2121408"/>
            <a:ext cx="5504688" cy="0"/>
          </a:xfrm>
          <a:prstGeom prst="line">
            <a:avLst/>
          </a:prstGeom>
          <a:ln w="31750">
            <a:solidFill>
              <a:srgbClr val="F0B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88920" y="2121408"/>
            <a:ext cx="0" cy="548640"/>
          </a:xfrm>
          <a:prstGeom prst="line">
            <a:avLst/>
          </a:prstGeom>
          <a:ln w="31750">
            <a:solidFill>
              <a:srgbClr val="F0B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2720339" y="2601468"/>
            <a:ext cx="137160" cy="137160"/>
          </a:xfrm>
          <a:prstGeom prst="triangle">
            <a:avLst/>
          </a:prstGeom>
          <a:solidFill>
            <a:srgbClr val="F0B83D"/>
          </a:solidFill>
          <a:ln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09160" y="1664208"/>
            <a:ext cx="1965960" cy="338328"/>
          </a:xfrm>
          <a:prstGeom prst="roundRect">
            <a:avLst>
              <a:gd name="adj" fmla="val 14000"/>
            </a:avLst>
          </a:prstGeom>
          <a:solidFill>
            <a:srgbClr val="FFF3D3"/>
          </a:solidFill>
          <a:ln w="12700">
            <a:solidFill>
              <a:srgbClr val="FFF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1677924"/>
            <a:ext cx="1819656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2243A"/>
                </a:solidFill>
                <a:latin typeface="Aptos"/>
              </a:rPr>
              <a:t>vuelve al primero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10241280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4553712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43A"/>
                </a:solidFill>
                <a:latin typeface="Aptos"/>
              </a:rPr>
              <a:t>Sin principio o fin natural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553712"/>
            <a:ext cx="53949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867F"/>
                </a:solidFill>
                <a:latin typeface="Aptos"/>
              </a:rPr>
              <a:t>Detener al regresar al nodo de partida.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742432"/>
            <a:ext cx="10058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4748B"/>
                </a:solidFill>
                <a:latin typeface="Aptos"/>
              </a:rPr>
              <a:t>Ejemplos: turnos rotativos, playlist en repetición, planificación round-robin.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Lista doble: avanzar y volver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Cada nodo guarda dos enlaces: anterior y siguiente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697480"/>
            <a:ext cx="1874519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2779776"/>
            <a:ext cx="53035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prev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3976" y="2898648"/>
            <a:ext cx="61264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779776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697480"/>
            <a:ext cx="1874519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2779776"/>
            <a:ext cx="53035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prev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898648"/>
            <a:ext cx="61264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2779776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697480"/>
            <a:ext cx="1874519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67728" y="2779776"/>
            <a:ext cx="53035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prev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898648"/>
            <a:ext cx="612648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12243A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2779776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971800"/>
            <a:ext cx="685800" cy="0"/>
          </a:xfrm>
          <a:prstGeom prst="line">
            <a:avLst/>
          </a:prstGeom>
          <a:ln w="31750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000500" y="2903220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3383280" y="3401568"/>
            <a:ext cx="685800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3314700" y="3332988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971800"/>
            <a:ext cx="685800" cy="0"/>
          </a:xfrm>
          <a:prstGeom prst="line">
            <a:avLst/>
          </a:prstGeom>
          <a:ln w="31750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6697980" y="2903220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H="1">
            <a:off x="6080760" y="3401568"/>
            <a:ext cx="685800" cy="0"/>
          </a:xfrm>
          <a:prstGeom prst="line">
            <a:avLst/>
          </a:prstGeom>
          <a:ln w="31750">
            <a:solidFill>
              <a:srgbClr val="F0B8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6012180" y="3332988"/>
            <a:ext cx="137160" cy="137160"/>
          </a:xfrm>
          <a:prstGeom prst="triangle">
            <a:avLst/>
          </a:prstGeom>
          <a:solidFill>
            <a:srgbClr val="F0B83D"/>
          </a:solidFill>
          <a:ln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1560" y="4343400"/>
            <a:ext cx="4480560" cy="1051560"/>
          </a:xfrm>
          <a:prstGeom prst="roundRect">
            <a:avLst>
              <a:gd name="adj" fmla="val 14000"/>
            </a:avLst>
          </a:prstGeom>
          <a:solidFill>
            <a:srgbClr val="DDF6F2"/>
          </a:solidFill>
          <a:ln w="12700">
            <a:solidFill>
              <a:srgbClr val="DD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4425696"/>
            <a:ext cx="82296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500" b="1" i="0">
                <a:solidFill>
                  <a:srgbClr val="13867F"/>
                </a:solidFill>
                <a:latin typeface="Aptos"/>
              </a:rPr>
              <a:t>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498848"/>
            <a:ext cx="283464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43A"/>
                </a:solidFill>
                <a:latin typeface="Aptos"/>
              </a:rPr>
              <a:t>Recorrido en ambos sentidos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343400"/>
            <a:ext cx="4572000" cy="1051560"/>
          </a:xfrm>
          <a:prstGeom prst="roundRect">
            <a:avLst>
              <a:gd name="adj" fmla="val 14000"/>
            </a:avLst>
          </a:prstGeom>
          <a:solidFill>
            <a:srgbClr val="FFF3D3"/>
          </a:solidFill>
          <a:ln w="12700">
            <a:solidFill>
              <a:srgbClr val="FFF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4462272"/>
            <a:ext cx="64008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AF7A05"/>
                </a:solidFill>
                <a:latin typeface="Aptos"/>
              </a:rP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462272"/>
            <a:ext cx="3200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43A"/>
                </a:solidFill>
                <a:latin typeface="Aptos"/>
              </a:rPr>
              <a:t>Más memoria y más enlaces por actualizar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74243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Aptos"/>
              </a:rPr>
              <a:t>Puede simplificar ciertas operaciones cuando ya tenemos el nodo.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43A"/>
                </a:solidFill>
                <a:latin typeface="Aptos"/>
              </a:rPr>
              <a:t>Tres formas de conectar nodos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Elegimos según cómo se recorre y qué extremos necesitamos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2240280" cy="5029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56231"/>
            <a:ext cx="20208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783080"/>
            <a:ext cx="2468880" cy="5029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1856231"/>
            <a:ext cx="224942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Enlaces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783080"/>
            <a:ext cx="2788920" cy="5029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3288" y="1856231"/>
            <a:ext cx="2569463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Recorrido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83080"/>
            <a:ext cx="2834640" cy="5029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7" y="1856231"/>
            <a:ext cx="2615184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Costo / uso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487168"/>
            <a:ext cx="22402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2542032"/>
            <a:ext cx="19659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5FCE"/>
                </a:solidFill>
                <a:latin typeface="Aptos"/>
              </a:rPr>
              <a:t>Simple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2487168"/>
            <a:ext cx="24688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542032"/>
            <a:ext cx="2194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siguiente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2487168"/>
            <a:ext cx="278892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2542032"/>
            <a:ext cx="251460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hacia adelante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487168"/>
            <a:ext cx="28346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2542032"/>
            <a:ext cx="25603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menos memoria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28416"/>
            <a:ext cx="2240280" cy="658368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383280"/>
            <a:ext cx="19659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5FCE"/>
                </a:solidFill>
                <a:latin typeface="Aptos"/>
              </a:rPr>
              <a:t>Circular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3328416"/>
            <a:ext cx="2468880" cy="658368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3383280"/>
            <a:ext cx="2194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 err="1">
                <a:solidFill>
                  <a:srgbClr val="12243A"/>
                </a:solidFill>
                <a:latin typeface="Aptos"/>
              </a:rPr>
              <a:t>siguiente</a:t>
            </a:r>
            <a:r>
              <a:rPr sz="1400" b="0" i="0" dirty="0">
                <a:solidFill>
                  <a:srgbClr val="12243A"/>
                </a:solidFill>
                <a:latin typeface="Aptos"/>
              </a:rPr>
              <a:t>
(el </a:t>
            </a:r>
            <a:r>
              <a:rPr sz="1400" b="0" i="0" dirty="0" err="1">
                <a:solidFill>
                  <a:srgbClr val="12243A"/>
                </a:solidFill>
                <a:latin typeface="Aptos"/>
              </a:rPr>
              <a:t>último</a:t>
            </a:r>
            <a:r>
              <a:rPr sz="1400" b="0" i="0" dirty="0">
                <a:solidFill>
                  <a:srgbClr val="12243A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2243A"/>
                </a:solidFill>
                <a:latin typeface="Aptos"/>
              </a:rPr>
              <a:t>vuelve</a:t>
            </a:r>
            <a:r>
              <a:rPr sz="1400" b="0" i="0" dirty="0">
                <a:solidFill>
                  <a:srgbClr val="12243A"/>
                </a:solidFill>
                <a:latin typeface="Aptos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3328416"/>
            <a:ext cx="2788920" cy="658368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0" y="3383280"/>
            <a:ext cx="251460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repetitivo; sin NULL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3328416"/>
            <a:ext cx="2834640" cy="658368"/>
          </a:xfrm>
          <a:prstGeom prst="roundRect">
            <a:avLst>
              <a:gd name="adj" fmla="val 14000"/>
            </a:avLst>
          </a:prstGeom>
          <a:solidFill>
            <a:srgbClr val="E9EEF5"/>
          </a:solidFill>
          <a:ln w="12700">
            <a:solidFill>
              <a:srgbClr val="E9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3383280"/>
            <a:ext cx="25603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turnos / ciclos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169664"/>
            <a:ext cx="22402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" y="4224528"/>
            <a:ext cx="19659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5FCE"/>
                </a:solidFill>
                <a:latin typeface="Aptos"/>
              </a:rPr>
              <a:t>Doble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4169664"/>
            <a:ext cx="246888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4224528"/>
            <a:ext cx="219456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2243A"/>
                </a:solidFill>
                <a:latin typeface="Aptos"/>
              </a:rPr>
              <a:t>anterior + </a:t>
            </a:r>
            <a:r>
              <a:rPr sz="1400" b="0" i="0" dirty="0" err="1">
                <a:solidFill>
                  <a:srgbClr val="12243A"/>
                </a:solidFill>
                <a:latin typeface="Aptos"/>
              </a:rPr>
              <a:t>siguiente</a:t>
            </a:r>
            <a:endParaRPr sz="1400" b="0" i="0" dirty="0">
              <a:solidFill>
                <a:srgbClr val="12243A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623560" y="4169664"/>
            <a:ext cx="278892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0" y="4224528"/>
            <a:ext cx="251460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 err="1">
                <a:solidFill>
                  <a:srgbClr val="12243A"/>
                </a:solidFill>
                <a:latin typeface="Aptos"/>
              </a:rPr>
              <a:t>en</a:t>
            </a:r>
            <a:r>
              <a:rPr sz="1400" b="0" i="0" dirty="0">
                <a:solidFill>
                  <a:srgbClr val="12243A"/>
                </a:solidFill>
                <a:latin typeface="Aptos"/>
              </a:rPr>
              <a:t> ambos </a:t>
            </a:r>
            <a:r>
              <a:rPr sz="1400" b="0" i="0" dirty="0" err="1">
                <a:solidFill>
                  <a:srgbClr val="12243A"/>
                </a:solidFill>
                <a:latin typeface="Aptos"/>
              </a:rPr>
              <a:t>sentidos</a:t>
            </a:r>
            <a:endParaRPr sz="1400" b="0" i="0" dirty="0">
              <a:solidFill>
                <a:srgbClr val="12243A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412480" y="4169664"/>
            <a:ext cx="28346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49640" y="4224528"/>
            <a:ext cx="25603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243A"/>
                </a:solidFill>
                <a:latin typeface="Aptos"/>
              </a:rPr>
              <a:t>más memoria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257800"/>
            <a:ext cx="10332720" cy="603504"/>
          </a:xfrm>
          <a:prstGeom prst="roundRect">
            <a:avLst>
              <a:gd name="adj" fmla="val 14000"/>
            </a:avLst>
          </a:prstGeom>
          <a:solidFill>
            <a:srgbClr val="E5EDFF"/>
          </a:solidFill>
          <a:ln w="12700">
            <a:solidFill>
              <a:srgbClr val="E5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88720" y="5385816"/>
            <a:ext cx="978408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315FCE"/>
                </a:solidFill>
                <a:latin typeface="Aptos"/>
              </a:rPr>
              <a:t>Misma idea — distintos enlaces y distintos límites de recorrido.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66344"/>
            <a:ext cx="109728" cy="585216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38912"/>
            <a:ext cx="1074420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 dirty="0" err="1">
                <a:solidFill>
                  <a:srgbClr val="12243A"/>
                </a:solidFill>
                <a:latin typeface="Aptos"/>
              </a:rPr>
              <a:t>Pensemos</a:t>
            </a:r>
            <a:r>
              <a:rPr sz="2900" b="1" i="0" dirty="0">
                <a:solidFill>
                  <a:srgbClr val="12243A"/>
                </a:solidFill>
                <a:latin typeface="Aptos"/>
              </a:rPr>
              <a:t> con </a:t>
            </a:r>
            <a:r>
              <a:rPr sz="2900" b="1" i="0" dirty="0" err="1">
                <a:solidFill>
                  <a:srgbClr val="12243A"/>
                </a:solidFill>
                <a:latin typeface="Aptos"/>
              </a:rPr>
              <a:t>punteros</a:t>
            </a:r>
            <a:endParaRPr sz="2900" b="1" i="0" dirty="0">
              <a:solidFill>
                <a:srgbClr val="1224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106070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Aptos"/>
              </a:rPr>
              <a:t>Actividad guiada · 4 minutos · discutir antes de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510528"/>
            <a:ext cx="10881360" cy="10972"/>
          </a:xfrm>
          <a:prstGeom prst="rect">
            <a:avLst/>
          </a:prstGeom>
          <a:solidFill>
            <a:srgbClr val="D9E1E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704" y="6528816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315FCE"/>
                </a:solidFill>
                <a:latin typeface="Consolas"/>
              </a:rPr>
              <a:t>4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83080"/>
            <a:ext cx="6629400" cy="4160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057400"/>
            <a:ext cx="22860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Lista inicial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761488"/>
            <a:ext cx="12344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98448" y="2761488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39" y="2807208"/>
            <a:ext cx="9601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3227832"/>
            <a:ext cx="97840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761488"/>
            <a:ext cx="12344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761488"/>
            <a:ext cx="82296" cy="841248"/>
          </a:xfrm>
          <a:prstGeom prst="rect">
            <a:avLst/>
          </a:prstGeom>
          <a:solidFill>
            <a:srgbClr val="23B8AE"/>
          </a:solidFill>
          <a:ln w="12700"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807208"/>
            <a:ext cx="9601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227832"/>
            <a:ext cx="97840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2761488"/>
            <a:ext cx="12344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93792" y="2761488"/>
            <a:ext cx="82296" cy="841248"/>
          </a:xfrm>
          <a:prstGeom prst="rect">
            <a:avLst/>
          </a:prstGeom>
          <a:solidFill>
            <a:srgbClr val="315FCE"/>
          </a:solidFill>
          <a:ln w="12700"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3" y="2807208"/>
            <a:ext cx="9601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2243A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227832"/>
            <a:ext cx="97840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onsolas"/>
              </a:rPr>
              <a:t>siguiente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42032" y="3172968"/>
            <a:ext cx="612648" cy="0"/>
          </a:xfrm>
          <a:prstGeom prst="line">
            <a:avLst/>
          </a:prstGeom>
          <a:ln w="29209">
            <a:solidFill>
              <a:srgbClr val="315F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086100" y="3104388"/>
            <a:ext cx="137160" cy="137160"/>
          </a:xfrm>
          <a:prstGeom prst="triangle">
            <a:avLst/>
          </a:prstGeom>
          <a:solidFill>
            <a:srgbClr val="315FCE"/>
          </a:solidFill>
          <a:ln>
            <a:solidFill>
              <a:srgbClr val="315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4489704" y="3172968"/>
            <a:ext cx="612648" cy="0"/>
          </a:xfrm>
          <a:prstGeom prst="line">
            <a:avLst/>
          </a:prstGeom>
          <a:ln w="29209">
            <a:solidFill>
              <a:srgbClr val="23B8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033772" y="3104388"/>
            <a:ext cx="137160" cy="137160"/>
          </a:xfrm>
          <a:prstGeom prst="triangl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4069080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43A"/>
                </a:solidFill>
                <a:latin typeface="Aptos"/>
              </a:rPr>
              <a:t>1. Insertá C entre B y 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608576"/>
            <a:ext cx="557784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243A"/>
                </a:solidFill>
                <a:latin typeface="Aptos"/>
              </a:rPr>
              <a:t>2. Después eliminá B. ¿Qué enlaces cambian?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1783080"/>
            <a:ext cx="3246120" cy="4160520"/>
          </a:xfrm>
          <a:prstGeom prst="roundRect">
            <a:avLst>
              <a:gd name="adj" fmla="val 14000"/>
            </a:avLst>
          </a:prstGeom>
          <a:solidFill>
            <a:srgbClr val="12243A"/>
          </a:solidFill>
          <a:ln w="12700">
            <a:solidFill>
              <a:srgbClr val="12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237744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8AE4DB"/>
                </a:solidFill>
                <a:latin typeface="Aptos"/>
              </a:rPr>
              <a:t>Pistas</a:t>
            </a:r>
          </a:p>
        </p:txBody>
      </p:sp>
      <p:sp>
        <p:nvSpPr>
          <p:cNvPr id="30" name="Oval 29"/>
          <p:cNvSpPr/>
          <p:nvPr/>
        </p:nvSpPr>
        <p:spPr>
          <a:xfrm>
            <a:off x="8371331" y="3113532"/>
            <a:ext cx="82296" cy="82296"/>
          </a:xfrm>
          <a:prstGeom prst="ellipse">
            <a:avLst/>
          </a:prstGeom>
          <a:solidFill>
            <a:srgbClr val="23B8AE"/>
          </a:solidFill>
          <a:ln>
            <a:solidFill>
              <a:srgbClr val="23B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67928" y="2743200"/>
            <a:ext cx="233172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¿Qué nodo debe conservarse antes de cambiar un enlace?</a:t>
            </a:r>
          </a:p>
        </p:txBody>
      </p:sp>
      <p:sp>
        <p:nvSpPr>
          <p:cNvPr id="32" name="Oval 31"/>
          <p:cNvSpPr/>
          <p:nvPr/>
        </p:nvSpPr>
        <p:spPr>
          <a:xfrm>
            <a:off x="8371331" y="4123944"/>
            <a:ext cx="82296" cy="82296"/>
          </a:xfrm>
          <a:prstGeom prst="ellipse">
            <a:avLst/>
          </a:prstGeom>
          <a:solidFill>
            <a:srgbClr val="F0B83D"/>
          </a:solidFill>
          <a:ln>
            <a:solidFill>
              <a:srgbClr val="F0B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67928" y="3776472"/>
            <a:ext cx="2331720" cy="7772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¿Qué puntero se actualiza si cambia la cabeza?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5175504"/>
            <a:ext cx="256032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4D2E2"/>
                </a:solidFill>
                <a:latin typeface="Aptos"/>
              </a:rPr>
              <a:t>Puesta en común: 1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658368"/>
            <a:ext cx="603504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Para llevarse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435608"/>
            <a:ext cx="81381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C4D2E2"/>
                </a:solidFill>
                <a:latin typeface="Aptos"/>
              </a:rPr>
              <a:t>Una lista es una cadena de decisiones sobre enlaces.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65836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E4DB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331720"/>
            <a:ext cx="90525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new reserva · delete libera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26663"/>
            <a:ext cx="65836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E4DB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3026663"/>
            <a:ext cx="90525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lista → primer nodo → siguiente → nullptr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21608"/>
            <a:ext cx="65836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E4DB"/>
                </a:solidFill>
                <a:latin typeface="Consola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721608"/>
            <a:ext cx="90525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insertar / borrar cambia enlaces; hay que preservar 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65836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AE4DB"/>
                </a:solidFill>
                <a:latin typeface="Consola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4416552"/>
            <a:ext cx="90525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circular y doble: variantes para otros recorridos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5376672"/>
            <a:ext cx="8961120" cy="0"/>
          </a:xfrm>
          <a:prstGeom prst="line">
            <a:avLst/>
          </a:prstGeom>
          <a:ln w="16510">
            <a:solidFill>
              <a:srgbClr val="3A52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596128"/>
            <a:ext cx="886968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CD69"/>
                </a:solidFill>
                <a:latin typeface="Aptos"/>
              </a:rPr>
              <a:t>¿Qué pregunta te queda sobre el recorrido o la memoria?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126480"/>
            <a:ext cx="1508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2A5BB"/>
                </a:solidFill>
                <a:latin typeface="Consolas"/>
              </a:rPr>
              <a:t>FIN · 30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1023</Words>
  <Application>Microsoft Office PowerPoint</Application>
  <PresentationFormat>Widescreen</PresentationFormat>
  <Paragraphs>266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datos dinámicas: listas enlazadas</dc:title>
  <dc:subject>Clase de 30 minutos sobre memoria dinámica y listas</dc:subject>
  <dc:creator>Material de clase</dc:creator>
  <cp:keywords>listas enlazadas, memoria dinámica, punteros, estructuras de datos</cp:keywords>
  <dc:description>generated using python-pptx</dc:description>
  <cp:lastModifiedBy>Juan Pablo Breton</cp:lastModifiedBy>
  <cp:revision>2</cp:revision>
  <dcterms:created xsi:type="dcterms:W3CDTF">2013-01-27T09:14:16Z</dcterms:created>
  <dcterms:modified xsi:type="dcterms:W3CDTF">2026-10-09T12:01:56Z</dcterms:modified>
  <cp:category/>
</cp:coreProperties>
</file>